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F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73152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Sales Performance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457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0">
                <a:solidFill>
                  <a:srgbClr val="DEEBF7"/>
                </a:solidFill>
                <a:latin typeface="Calibri"/>
              </a:rPr>
              <a:t>&amp; Next Month Sales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9DC3E6"/>
                </a:solidFill>
                <a:latin typeface="Calibri"/>
              </a:rPr>
              <a:t>Sales Team Meeting  |  support@stellarstech.com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DEEBF7"/>
                </a:solidFill>
                <a:latin typeface="Calibri"/>
              </a:rP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EEBF7"/>
                </a:solidFill>
                <a:latin typeface="Calibri"/>
              </a:rPr>
              <a:t>Meeting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109728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3000" b="1">
                <a:solidFill>
                  <a:srgbClr val="9DC3E6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262626"/>
                </a:solidFill>
                <a:latin typeface="Calibri"/>
              </a:rPr>
              <a:t>1.  Performance Overview — key numbers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62626"/>
                </a:solidFill>
                <a:latin typeface="Calibri"/>
              </a:rPr>
              <a:t>2.  YTD Sales vs Targets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62626"/>
                </a:solidFill>
                <a:latin typeface="Calibri"/>
              </a:rPr>
              <a:t>3.  Monthly Sales Trend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62626"/>
                </a:solidFill>
                <a:latin typeface="Calibri"/>
              </a:rPr>
              <a:t>4.  Rep Performance &amp; Sales Share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62626"/>
                </a:solidFill>
                <a:latin typeface="Calibri"/>
              </a:rPr>
              <a:t>5.  Next Month Sales Plan — key components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62626"/>
                </a:solidFill>
                <a:latin typeface="Calibri"/>
              </a:rPr>
              <a:t>6.  Sales Forecast — +20% growth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62626"/>
                </a:solidFill>
                <a:latin typeface="Calibri"/>
              </a:rPr>
              <a:t>7.  How to Boost Sales — team guide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62626"/>
                </a:solidFill>
                <a:latin typeface="Calibri"/>
              </a:rPr>
              <a:t>8.  Action Items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Performance Overview — Key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EEBF7"/>
                </a:solidFill>
                <a:latin typeface="Calibri"/>
              </a:rPr>
              <a:t>Summary of YTD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109728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3000" b="1">
                <a:solidFill>
                  <a:srgbClr val="9DC3E6"/>
                </a:solidFill>
                <a:latin typeface="Calibri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2468880" cy="18288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2468880" cy="109728"/>
          </a:xfrm>
          <a:prstGeom prst="rect">
            <a:avLst/>
          </a:prstGeom>
          <a:solidFill>
            <a:srgbClr val="3B8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2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95959"/>
                </a:solidFill>
                <a:latin typeface="Calibri"/>
              </a:rPr>
              <a:t>Total YTD 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3B8E41"/>
                </a:solidFill>
                <a:latin typeface="Calibri"/>
              </a:rPr>
              <a:t>10.80M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554480"/>
            <a:ext cx="2468880" cy="18288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554480"/>
            <a:ext cx="2468880" cy="109728"/>
          </a:xfrm>
          <a:prstGeom prst="rect">
            <a:avLst/>
          </a:prstGeom>
          <a:solidFill>
            <a:srgbClr val="3B8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87452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95959"/>
                </a:solidFill>
                <a:latin typeface="Calibri"/>
              </a:rPr>
              <a:t>Reps Above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33172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3B8E41"/>
                </a:solidFill>
                <a:latin typeface="Calibri"/>
              </a:rPr>
              <a:t>6 /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1554480"/>
            <a:ext cx="2468880" cy="18288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60" y="1554480"/>
            <a:ext cx="2468880" cy="1097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87452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95959"/>
                </a:solidFill>
                <a:latin typeface="Calibri"/>
              </a:rPr>
              <a:t>Growth Jan → Jul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33172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2E75B6"/>
                </a:solidFill>
                <a:latin typeface="Calibri"/>
              </a:rPr>
              <a:t>+32%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1554480"/>
            <a:ext cx="2468880" cy="18288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9680" y="1554480"/>
            <a:ext cx="2468880" cy="109728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187452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95959"/>
                </a:solidFill>
                <a:latin typeface="Calibri"/>
              </a:rPr>
              <a:t>Top Performer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233172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E88A2E"/>
                </a:solidFill>
                <a:latin typeface="Calibri"/>
              </a:rPr>
              <a:t>Siraj (175.8%)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79476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All 6 sales reps exceeded their YTD targets — no one is below 100%.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Mustafa leads in absolute volume (2,652,000); Siraj leads in efficiency (175.8% of target).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Monthly trend is consistently rising: 401K in Jan to 529K in July.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Next step: build on this momentum with a +20% growth plan for next month.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YTD Sales vs Target by Rep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EEBF7"/>
                </a:solidFill>
                <a:latin typeface="Calibri"/>
              </a:rPr>
              <a:t>Every rep exceeded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109728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3000" b="1">
                <a:solidFill>
                  <a:srgbClr val="9DC3E6"/>
                </a:solidFill>
                <a:latin typeface="Calibri"/>
              </a:rPr>
              <a:t>04</a:t>
            </a:r>
          </a:p>
        </p:txBody>
      </p:sp>
      <p:pic>
        <p:nvPicPr>
          <p:cNvPr id="7" name="Picture 6" descr="2_ytd_sales_vs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280160"/>
            <a:ext cx="90525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Monthly Sales Trend (Jan – Jul)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EEBF7"/>
                </a:solidFill>
                <a:latin typeface="Calibri"/>
              </a:rPr>
              <a:t>Consistent upward momentum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109728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3000" b="1">
                <a:solidFill>
                  <a:srgbClr val="9DC3E6"/>
                </a:solidFill>
                <a:latin typeface="Calibri"/>
              </a:rPr>
              <a:t>05</a:t>
            </a:r>
          </a:p>
        </p:txBody>
      </p:sp>
      <p:pic>
        <p:nvPicPr>
          <p:cNvPr id="7" name="Picture 6" descr="3_month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371600"/>
            <a:ext cx="8321040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20240" y="6035040"/>
            <a:ext cx="8321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Calibri"/>
              </a:rPr>
              <a:t>Total monthly sales grew from 401K to 529K (+32%)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Rep Performance — % of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EEBF7"/>
                </a:solidFill>
                <a:latin typeface="Calibri"/>
              </a:rPr>
              <a:t>Siraj &amp; Mustafa lead the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109728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3000" b="1">
                <a:solidFill>
                  <a:srgbClr val="9DC3E6"/>
                </a:solidFill>
                <a:latin typeface="Calibri"/>
              </a:rPr>
              <a:t>06</a:t>
            </a:r>
          </a:p>
        </p:txBody>
      </p:sp>
      <p:pic>
        <p:nvPicPr>
          <p:cNvPr id="7" name="Picture 6" descr="5_pct_target_achie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280160"/>
            <a:ext cx="83210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YTD Sales Share by Rep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EEBF7"/>
                </a:solidFill>
                <a:latin typeface="Calibri"/>
              </a:rPr>
              <a:t>Contribution split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109728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3000" b="1">
                <a:solidFill>
                  <a:srgbClr val="9DC3E6"/>
                </a:solidFill>
                <a:latin typeface="Calibri"/>
              </a:rPr>
              <a:t>07</a:t>
            </a:r>
          </a:p>
        </p:txBody>
      </p:sp>
      <p:pic>
        <p:nvPicPr>
          <p:cNvPr id="7" name="Picture 6" descr="4_ytd_sales_share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88720"/>
            <a:ext cx="55778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Next Month Sales Plan — Key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EEBF7"/>
                </a:solidFill>
                <a:latin typeface="Calibri"/>
              </a:rPr>
              <a:t>A structured, measurable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109728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3000" b="1">
                <a:solidFill>
                  <a:srgbClr val="9DC3E6"/>
                </a:solidFill>
                <a:latin typeface="Calibr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262626"/>
                </a:solidFill>
                <a:latin typeface="Calibri"/>
              </a:rPr>
              <a:t>1.  Lead Generation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   •  Increase daily prospecting calls/emails by 25%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   •  Reactivate old/pending leads database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262626"/>
                </a:solidFill>
                <a:latin typeface="Calibri"/>
              </a:rPr>
              <a:t>2.  Customer Retention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   •  Follow-up every existing account at least twice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   •  Resolve pending queries within 24 hours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262626"/>
                </a:solidFill>
                <a:latin typeface="Calibri"/>
              </a:rPr>
              <a:t>3.  Upselling &amp; Cross-selling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   •  Offer add-on products to top 20 customers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   •  Bundle offers to increase average order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37160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262626"/>
                </a:solidFill>
                <a:latin typeface="Calibri"/>
              </a:rPr>
              <a:t>4.  Clear Targets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   •  Individual target set per rep (see forecast)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   •  Weekly milestones to track progress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262626"/>
                </a:solidFill>
                <a:latin typeface="Calibri"/>
              </a:rPr>
              <a:t>5.  Daily Tracking &amp; Reporting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   •  Daily activity log + CRM updates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   •  Weekly review meeting every Monday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262626"/>
                </a:solidFill>
                <a:latin typeface="Calibri"/>
              </a:rPr>
              <a:t>6.  Incentives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   •  Top performer bonus &amp; recognition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   •  Team reward for hitting +20% target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Sales Forecast — Next Month (+20%)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EEBF7"/>
                </a:solidFill>
                <a:latin typeface="Calibri"/>
              </a:rPr>
              <a:t>Baseline: July actuals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109728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3000" b="1">
                <a:solidFill>
                  <a:srgbClr val="9DC3E6"/>
                </a:solidFill>
                <a:latin typeface="Calibri"/>
              </a:rPr>
              <a:t>09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05840" y="1371600"/>
          <a:ext cx="101498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377440"/>
                <a:gridCol w="2377440"/>
                <a:gridCol w="2377440"/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Sales Rep</a:t>
                      </a:r>
                    </a:p>
                  </a:txBody>
                  <a:tcPr anchor="ctr">
                    <a:solidFill>
                      <a:srgbClr val="1F3F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July Sales</a:t>
                      </a:r>
                    </a:p>
                  </a:txBody>
                  <a:tcPr anchor="ctr">
                    <a:solidFill>
                      <a:srgbClr val="1F3F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Forecast (+20%)</a:t>
                      </a:r>
                    </a:p>
                  </a:txBody>
                  <a:tcPr anchor="ctr">
                    <a:solidFill>
                      <a:srgbClr val="1F3F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Growth Amount</a:t>
                      </a:r>
                    </a:p>
                  </a:txBody>
                  <a:tcPr anchor="ctr">
                    <a:solidFill>
                      <a:srgbClr val="1F3F6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0"/>
                        <a:t>Abdullah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85,000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B8E41"/>
                          </a:solidFill>
                        </a:rPr>
                        <a:t>102,000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17,000</a:t>
                      </a:r>
                    </a:p>
                  </a:txBody>
                  <a:tcPr anchor="ctr"/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0"/>
                        <a:t>Mustafa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180,000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B8E41"/>
                          </a:solidFill>
                        </a:rPr>
                        <a:t>216,000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36,000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0"/>
                        <a:t>Aamir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58,000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B8E41"/>
                          </a:solidFill>
                        </a:rPr>
                        <a:t>69,600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11,600</a:t>
                      </a:r>
                    </a:p>
                  </a:txBody>
                  <a:tcPr anchor="ctr"/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0"/>
                        <a:t>Siraj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115,000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B8E41"/>
                          </a:solidFill>
                        </a:rPr>
                        <a:t>138,000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23,000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0"/>
                        <a:t>Kashif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38,000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B8E41"/>
                          </a:solidFill>
                        </a:rPr>
                        <a:t>45,600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7,600</a:t>
                      </a:r>
                    </a:p>
                  </a:txBody>
                  <a:tcPr anchor="ctr"/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0"/>
                        <a:t>Asif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53,000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B8E41"/>
                          </a:solidFill>
                        </a:rPr>
                        <a:t>63,600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10,600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TOTAL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529,000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B8E41"/>
                          </a:solidFill>
                        </a:rPr>
                        <a:t>634,800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105,800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05840" y="585216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62626"/>
                </a:solidFill>
                <a:latin typeface="Calibri"/>
              </a:rPr>
              <a:t>Next month total target: 634,800  (from 529,000 baseline)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How to Boost Sales — Team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EEBF7"/>
                </a:solidFill>
                <a:latin typeface="Calibri"/>
              </a:rPr>
              <a:t>Actionable tactics for every 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109728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3000" b="1">
                <a:solidFill>
                  <a:srgbClr val="9DC3E6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262626"/>
                </a:solidFill>
                <a:latin typeface="Calibri"/>
              </a:rPr>
              <a:t>1.  Prospect Daily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   •  Set a minimum of 15 new prospect touch-points every day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262626"/>
                </a:solidFill>
                <a:latin typeface="Calibri"/>
              </a:rPr>
              <a:t>2.  Improve Conversion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   •  Speed up quote turnaround to under 4 hours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   •  Follow up hot leads within 30 minutes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262626"/>
                </a:solidFill>
                <a:latin typeface="Calibri"/>
              </a:rPr>
              <a:t>3.  Grow Account Value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   •  Upsell/cross-sell to existing customers first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   •  Ask every customer for one referral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262626"/>
                </a:solidFill>
                <a:latin typeface="Calibri"/>
              </a:rPr>
              <a:t>4.  Track &amp; Learn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   •  Log every call, quote and outcome in CRM daily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   •  Review your own win/loss each 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262626"/>
                </a:solidFill>
                <a:latin typeface="Calibri"/>
              </a:rPr>
              <a:t>5.  Focus on High-Value Accounts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   •  Prioritize the top 20% customers by value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262626"/>
                </a:solidFill>
                <a:latin typeface="Calibri"/>
              </a:rPr>
              <a:t>6.  Team Collaboration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   •  Share winning pitches &amp; objections handled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   •  Pair junior reps with top performers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262626"/>
                </a:solidFill>
                <a:latin typeface="Calibri"/>
              </a:rPr>
              <a:t>7.  Stay Consistent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   •  Hit daily activity targets every day, not just at month-end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262626"/>
                </a:solidFill>
                <a:latin typeface="Calibri"/>
              </a:rPr>
              <a:t>8.  Use the Data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   •  Revisit this dashboard weekly to spot trends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Action Items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EEBF7"/>
                </a:solidFill>
                <a:latin typeface="Calibri"/>
              </a:rPr>
              <a:t>Owners and timing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109728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3000" b="1">
                <a:solidFill>
                  <a:srgbClr val="9DC3E6"/>
                </a:solidFill>
                <a:latin typeface="Calibr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05840" y="1463040"/>
          <a:ext cx="101498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377440"/>
                <a:gridCol w="2103120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anchor="ctr">
                    <a:solidFill>
                      <a:srgbClr val="1F3F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anchor="ctr">
                    <a:solidFill>
                      <a:srgbClr val="1F3F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When</a:t>
                      </a:r>
                    </a:p>
                  </a:txBody>
                  <a:tcPr anchor="ctr">
                    <a:solidFill>
                      <a:srgbClr val="1F3F6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Assign individual +20% targets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Sales Manager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Today</a:t>
                      </a:r>
                    </a:p>
                  </a:txBody>
                  <a:tcPr anchor="ctr"/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Launch daily activity tracker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Team Lead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This week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Reactivate old leads 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All reps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This week</a:t>
                      </a:r>
                    </a:p>
                  </a:txBody>
                  <a:tcPr anchor="ctr"/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Weekly review meeting (Mon)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Sales Manager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Weekly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Top-performer incentive plan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This month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F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DEEBF7"/>
                </a:solidFill>
                <a:latin typeface="Calibri"/>
              </a:rPr>
              <a:t>Let's hit the +20% target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DC3E6"/>
                </a:solidFill>
                <a:latin typeface="Calibri"/>
              </a:rPr>
              <a:t>support@stellarstech.com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